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notesSlides/notesSlide12.xml" ContentType="application/vnd.openxmlformats-officedocument.presentationml.notesSlide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GB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53633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8915124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GB"/>
              <a:t>10/30/2013</a:t>
            </a:fld>
            <a:endParaRPr lang="en-GB"/>
          </a:p>
        </p:txBody>
      </p:sp>
      <p:sp>
        <p:nvSpPr>
          <p:cNvPr id="117181661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GB"/>
          </a:p>
        </p:txBody>
      </p:sp>
      <p:sp>
        <p:nvSpPr>
          <p:cNvPr id="206800349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202486164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9251029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58310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4977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41723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6C207D-66D4-CA06-48EC-01B7CD3674D8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84450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12399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5838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10576E-7055-B613-8526-E42980DB6E17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95370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96553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33825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9C6F8B-6209-08CE-44D6-7A4CD8E05D6F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96516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1181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1247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A8F621-DF1F-5E1E-D014-25E7930979B8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04880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31713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82452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29E5BD-E341-C6E1-2E14-2E5F4909280E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5328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6255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95302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E68F5E-6FCE-3ACB-8C2B-719C1DBB0C15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02262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84074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70640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4CB147-BE7C-4B6E-85D3-60B4BEBFB65B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41183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93115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91811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48344E-3DE0-A4C1-E860-F89C83C5E5B5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6996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9196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31476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902CC0-8E6B-2C64-731D-F00BE3025CA6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87343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44532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329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4E5F47-BD25-D7CC-690D-A15E3015C055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818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10453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327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B8ADC4-D0F0-4739-89AE-3E6EA44A931A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48245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54089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67776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6D48EE-2AAA-291F-0051-E368914B468A}" type="slidenum">
              <a:rPr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23B101-D0E0-86E4-3534-6F4C0A786339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979202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025296771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GB"/>
              <a:t>Click to edit Master subtitle style</a:t>
            </a:r>
            <a:endParaRPr lang="en-GB"/>
          </a:p>
        </p:txBody>
      </p:sp>
      <p:sp>
        <p:nvSpPr>
          <p:cNvPr id="108284537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62452218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144729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97133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73482218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16794435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09549384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358808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974805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74781256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75368572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28866379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8357496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15698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62386136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60024080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52056829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70111432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7927003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910646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97702642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90049393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52933261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24324809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07353365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48348682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83478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0135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85394209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18537471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3344206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66866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66110373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5842398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6376165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5178127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10337200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59726091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68003883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26803807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51741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6502366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GB"/>
              <a:t>Click icon to add picture</a:t>
            </a:r>
            <a:endParaRPr lang="en-GB"/>
          </a:p>
        </p:txBody>
      </p:sp>
      <p:sp>
        <p:nvSpPr>
          <p:cNvPr id="208271234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48180228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5057340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01901660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89975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40392871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6671993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213621814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7338036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43474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84602043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98564064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07877961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381919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55518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205730390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68389440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45436838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9626468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6907421" name=""/>
          <p:cNvSpPr txBox="1"/>
          <p:nvPr/>
        </p:nvSpPr>
        <p:spPr bwMode="auto">
          <a:xfrm flipH="0" flipV="0">
            <a:off x="2559275" y="2456446"/>
            <a:ext cx="6932556" cy="16157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0000">
                <a:latin typeface="Silkscreen"/>
                <a:ea typeface="Silkscreen"/>
                <a:cs typeface="Silkscreen"/>
              </a:rPr>
              <a:t>Entities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97606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latin typeface="Bungee"/>
                <a:ea typeface="Bungee"/>
                <a:cs typeface="Bungee"/>
              </a:rPr>
              <a:t>Shipped Item Entity</a:t>
            </a:r>
            <a:endParaRPr/>
          </a:p>
        </p:txBody>
      </p:sp>
      <p:sp>
        <p:nvSpPr>
          <p:cNvPr id="1210148148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en-US" sz="3600"/>
              <a:t>Attributes</a:t>
            </a:r>
            <a:endParaRPr lang="en-US" sz="3600"/>
          </a:p>
          <a:p>
            <a:pPr lvl="1">
              <a:buFont typeface="Wingdings"/>
              <a:buChar char="ü"/>
              <a:defRPr/>
            </a:pPr>
            <a:r>
              <a:rPr lang="en-US" sz="2800"/>
              <a:t>Item Number (Primary Key)</a:t>
            </a:r>
            <a:endParaRPr lang="en-US" sz="2600"/>
          </a:p>
          <a:p>
            <a:pPr lvl="1">
              <a:buFont typeface="Wingdings"/>
              <a:buChar char="ü"/>
              <a:defRPr/>
            </a:pPr>
            <a:r>
              <a:rPr lang="en-US" sz="2800"/>
              <a:t>Weight</a:t>
            </a:r>
            <a:endParaRPr lang="en-US" sz="2600"/>
          </a:p>
          <a:p>
            <a:pPr lvl="1">
              <a:buFont typeface="Wingdings"/>
              <a:buChar char="ü"/>
              <a:defRPr/>
            </a:pPr>
            <a:r>
              <a:rPr lang="en-US" sz="2800"/>
              <a:t>Dimensions</a:t>
            </a:r>
            <a:endParaRPr lang="en-US" sz="2600"/>
          </a:p>
          <a:p>
            <a:pPr lvl="1">
              <a:buFont typeface="Wingdings"/>
              <a:buChar char="ü"/>
              <a:defRPr/>
            </a:pPr>
            <a:r>
              <a:rPr lang="en-US" sz="2800"/>
              <a:t>Insurance Amount</a:t>
            </a:r>
            <a:endParaRPr lang="en-US" sz="2600"/>
          </a:p>
          <a:p>
            <a:pPr lvl="1">
              <a:buFont typeface="Wingdings"/>
              <a:buChar char="ü"/>
              <a:defRPr/>
            </a:pPr>
            <a:r>
              <a:rPr lang="en-US" sz="2800"/>
              <a:t>Destination</a:t>
            </a:r>
            <a:endParaRPr lang="en-US" sz="2600"/>
          </a:p>
          <a:p>
            <a:pPr lvl="1">
              <a:buFont typeface="Wingdings"/>
              <a:buChar char="ü"/>
              <a:defRPr/>
            </a:pPr>
            <a:r>
              <a:rPr lang="en-US" sz="2800"/>
              <a:t>Final Delivery Date</a:t>
            </a:r>
            <a:endParaRPr lang="en-US"/>
          </a:p>
          <a:p>
            <a:pPr marL="457200" lvl="1" indent="0">
              <a:buFont typeface="Wingdings"/>
              <a:buNone/>
              <a:defRPr/>
            </a:pPr>
            <a:endParaRPr lang="en-US"/>
          </a:p>
          <a:p>
            <a:pPr marL="57150" lvl="0" indent="0">
              <a:buFont typeface="Wingdings"/>
              <a:buNone/>
              <a:defRPr/>
            </a:pPr>
            <a:r>
              <a:rPr lang="en-US" sz="2600"/>
              <a:t>Shipped items can be characterized by item number (Unique), Weight, Dimensions, Insurance, Amounts, Destination and Final Delivery Date.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294190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latin typeface="Bungee"/>
                <a:ea typeface="Bungee"/>
                <a:cs typeface="Bungee"/>
              </a:rPr>
              <a:t>Retail Center Entity</a:t>
            </a:r>
            <a:endParaRPr/>
          </a:p>
        </p:txBody>
      </p:sp>
      <p:sp>
        <p:nvSpPr>
          <p:cNvPr id="1022281550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3600"/>
              <a:t>Attributes</a:t>
            </a:r>
            <a:endParaRPr lang="en-US" sz="3600"/>
          </a:p>
          <a:p>
            <a:pPr lvl="1">
              <a:buFont typeface="Wingdings"/>
              <a:buChar char="ü"/>
              <a:defRPr/>
            </a:pPr>
            <a:r>
              <a:rPr lang="en-US" sz="2800"/>
              <a:t>Item ID (Primary Key)</a:t>
            </a:r>
            <a:endParaRPr lang="en-US" sz="2600"/>
          </a:p>
          <a:p>
            <a:pPr lvl="1">
              <a:buFont typeface="Wingdings"/>
              <a:buChar char="ü"/>
              <a:defRPr/>
            </a:pPr>
            <a:r>
              <a:rPr lang="en-US" sz="2800"/>
              <a:t>Type</a:t>
            </a:r>
            <a:endParaRPr lang="en-US" sz="2600"/>
          </a:p>
          <a:p>
            <a:pPr lvl="1">
              <a:buFont typeface="Wingdings"/>
              <a:buChar char="ü"/>
              <a:defRPr/>
            </a:pPr>
            <a:r>
              <a:rPr lang="en-US" sz="2800"/>
              <a:t>Address</a:t>
            </a:r>
            <a:endParaRPr lang="en-US" sz="2600"/>
          </a:p>
          <a:p>
            <a:pPr marL="57150" lvl="0" indent="0">
              <a:buFont typeface="Wingdings"/>
              <a:buNone/>
              <a:defRPr/>
            </a:pPr>
            <a:r>
              <a:rPr lang="en-US" sz="2600"/>
              <a:t>Retail centers are characterized by their Type, Unique ID and Address.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38650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latin typeface="Bungee"/>
                <a:ea typeface="Bungee"/>
                <a:cs typeface="Bungee"/>
              </a:rPr>
              <a:t>Retail Center Entity</a:t>
            </a:r>
            <a:endParaRPr/>
          </a:p>
        </p:txBody>
      </p:sp>
      <p:sp>
        <p:nvSpPr>
          <p:cNvPr id="1184872428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3600"/>
              <a:t>Attributes</a:t>
            </a:r>
            <a:endParaRPr lang="en-US" sz="3600"/>
          </a:p>
          <a:p>
            <a:pPr lvl="1">
              <a:buFont typeface="Wingdings"/>
              <a:buChar char="ü"/>
              <a:defRPr/>
            </a:pPr>
            <a:r>
              <a:rPr lang="en-US" sz="2800"/>
              <a:t>Schedule Number (Primary Key)</a:t>
            </a:r>
            <a:endParaRPr lang="en-US" sz="2600"/>
          </a:p>
          <a:p>
            <a:pPr lvl="1">
              <a:buFont typeface="Wingdings"/>
              <a:buChar char="ü"/>
              <a:defRPr/>
            </a:pPr>
            <a:r>
              <a:rPr lang="en-US" sz="2800"/>
              <a:t>Type</a:t>
            </a:r>
            <a:endParaRPr lang="en-US" sz="2600"/>
          </a:p>
          <a:p>
            <a:pPr lvl="1">
              <a:buFont typeface="Wingdings"/>
              <a:buChar char="ü"/>
              <a:defRPr/>
            </a:pPr>
            <a:r>
              <a:rPr lang="en-US" sz="2600"/>
              <a:t>Delivery Route</a:t>
            </a:r>
            <a:endParaRPr lang="en-US" sz="2600"/>
          </a:p>
          <a:p>
            <a:pPr marL="57150" lvl="0" indent="0">
              <a:buFont typeface="Wingdings"/>
              <a:buNone/>
              <a:defRPr/>
            </a:pPr>
            <a:r>
              <a:rPr lang="en-US" sz="2600"/>
              <a:t>Transportation events are characterized by a unique Schedule Number, a Type and Delivery Route.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841449" name=""/>
          <p:cNvSpPr txBox="1"/>
          <p:nvPr/>
        </p:nvSpPr>
        <p:spPr bwMode="auto">
          <a:xfrm flipH="0" flipV="0">
            <a:off x="1932630" y="1754604"/>
            <a:ext cx="8331201" cy="33836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7200">
                <a:latin typeface="Silkscreen"/>
                <a:ea typeface="Silkscreen"/>
                <a:cs typeface="Silkscreen"/>
              </a:rPr>
              <a:t>Relationships and Cardinality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269533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9" y="365124"/>
            <a:ext cx="10769826" cy="1325562"/>
          </a:xfrm>
        </p:spPr>
        <p:txBody>
          <a:bodyPr/>
          <a:lstStyle/>
          <a:p>
            <a:pPr>
              <a:defRPr/>
            </a:pPr>
            <a:r>
              <a:rPr lang="en-US">
                <a:latin typeface="Bungee"/>
                <a:ea typeface="Bungee"/>
                <a:cs typeface="Bungee"/>
              </a:rPr>
              <a:t>Shipped Item and Retail Center</a:t>
            </a:r>
            <a:endParaRPr/>
          </a:p>
        </p:txBody>
      </p:sp>
      <p:sp>
        <p:nvSpPr>
          <p:cNvPr id="98977847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Shipped items are received into the VPS system at a single retail center.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67783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701841"/>
            <a:ext cx="10515600" cy="5475120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en-US"/>
              <a:t>From the Statement</a:t>
            </a:r>
            <a:endParaRPr lang="en-US"/>
          </a:p>
          <a:p>
            <a:pPr marL="0" indent="0">
              <a:buFont typeface="Arial"/>
              <a:buNone/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r>
              <a:rPr lang="en-US"/>
              <a:t>At a single retail center means,</a:t>
            </a:r>
            <a:endParaRPr lang="en-US"/>
          </a:p>
          <a:p>
            <a:pPr>
              <a:buFont typeface="Wingdings"/>
              <a:buChar char="Ø"/>
              <a:defRPr/>
            </a:pPr>
            <a:r>
              <a:rPr lang="en-US"/>
              <a:t>Each shipped item is associated with one and only one retail center.</a:t>
            </a:r>
            <a:endParaRPr lang="en-US"/>
          </a:p>
          <a:p>
            <a:pPr>
              <a:buFont typeface="Wingdings"/>
              <a:buChar char="Ø"/>
              <a:defRPr/>
            </a:pPr>
            <a:r>
              <a:rPr lang="en-US"/>
              <a:t>But retail center can handle many shipped items.</a:t>
            </a:r>
            <a:endParaRPr lang="en-US"/>
          </a:p>
          <a:p>
            <a:pPr>
              <a:buFont typeface="Wingdings"/>
              <a:buChar char="Ø"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r>
              <a:rPr lang="en-US"/>
              <a:t>So cardinality is Many to One.</a:t>
            </a:r>
            <a:endParaRPr lang="en-US"/>
          </a:p>
          <a:p>
            <a:pPr marL="0" indent="0">
              <a:buFont typeface="Arial"/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750014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587541" y="365124"/>
            <a:ext cx="11271142" cy="1325562"/>
          </a:xfrm>
        </p:spPr>
        <p:txBody>
          <a:bodyPr/>
          <a:lstStyle/>
          <a:p>
            <a:pPr>
              <a:defRPr/>
            </a:pPr>
            <a:r>
              <a:rPr lang="en-US" sz="3600">
                <a:latin typeface="Bungee"/>
                <a:ea typeface="Bungee"/>
                <a:cs typeface="Bungee"/>
              </a:rPr>
              <a:t>Shipped Item and Transportation Event</a:t>
            </a:r>
            <a:endParaRPr/>
          </a:p>
        </p:txBody>
      </p:sp>
      <p:sp>
        <p:nvSpPr>
          <p:cNvPr id="17610980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Shipped items make their way to their destination. Via one or more standard VPS transportation event.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12664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701841"/>
            <a:ext cx="10515600" cy="5475120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en-US"/>
              <a:t>From the Statement</a:t>
            </a:r>
            <a:endParaRPr lang="en-US"/>
          </a:p>
          <a:p>
            <a:pPr marL="0" indent="0">
              <a:buFont typeface="Arial"/>
              <a:buNone/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r>
              <a:rPr lang="en-US"/>
              <a:t>At a ———— means,</a:t>
            </a:r>
            <a:endParaRPr lang="en-US"/>
          </a:p>
          <a:p>
            <a:pPr>
              <a:buFont typeface="Wingdings"/>
              <a:buChar char="Ø"/>
              <a:defRPr/>
            </a:pPr>
            <a:r>
              <a:rPr lang="en-US"/>
              <a:t>One item can use one or more transportation event.</a:t>
            </a:r>
            <a:endParaRPr lang="en-US"/>
          </a:p>
          <a:p>
            <a:pPr>
              <a:buFont typeface="Wingdings"/>
              <a:buChar char="Ø"/>
              <a:defRPr/>
            </a:pPr>
            <a:r>
              <a:rPr lang="en-US"/>
              <a:t>One transportation event can transport one or more items in same time</a:t>
            </a:r>
            <a:endParaRPr lang="en-US"/>
          </a:p>
          <a:p>
            <a:pPr>
              <a:buFont typeface="Wingdings"/>
              <a:buChar char="Ø"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r>
              <a:rPr lang="en-US"/>
              <a:t>So cardinality is Many to Many.</a:t>
            </a:r>
            <a:endParaRPr lang="en-US"/>
          </a:p>
          <a:p>
            <a:pPr marL="0" indent="0">
              <a:buFont typeface="Arial"/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10554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777039"/>
            <a:ext cx="10515600" cy="5399923"/>
          </a:xfrm>
        </p:spPr>
        <p:txBody>
          <a:bodyPr/>
          <a:lstStyle/>
          <a:p>
            <a:pPr>
              <a:defRPr/>
            </a:pPr>
            <a:r>
              <a:rPr lang="en-US"/>
              <a:t>Each shipped item must be received at a retail center.</a:t>
            </a:r>
            <a:endParaRPr lang="en-US"/>
          </a:p>
          <a:p>
            <a:pPr marL="0" indent="0">
              <a:buFont typeface="Arial"/>
              <a:buNone/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endParaRPr/>
          </a:p>
          <a:p>
            <a:pPr>
              <a:defRPr/>
            </a:pPr>
            <a:r>
              <a:rPr lang="en-US"/>
              <a:t>Every item must have at least one transport item.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5321227" name=""/>
          <p:cNvSpPr txBox="1"/>
          <p:nvPr/>
        </p:nvSpPr>
        <p:spPr bwMode="auto">
          <a:xfrm flipH="0" flipV="0">
            <a:off x="2559274" y="1955130"/>
            <a:ext cx="6940835" cy="31397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0000">
                <a:latin typeface="Silkscreen"/>
                <a:ea typeface="Silkscreen"/>
                <a:cs typeface="Silkscreen"/>
              </a:rPr>
              <a:t>Final Diagram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ONLYOFFICE/8.3.3.21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</cp:revision>
  <dcterms:modified xsi:type="dcterms:W3CDTF">2025-06-15T02:34:29Z</dcterms:modified>
</cp:coreProperties>
</file>